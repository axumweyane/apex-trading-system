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APEX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8A6FF"/>
                </a:solidFill>
              </a:defRPr>
            </a:pPr>
            <a:r>
              <a:t>Multi-Strategy Quantitative Trading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017520"/>
            <a:ext cx="4572000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</a:defRPr>
            </a:pPr>
            <a:r>
              <a:t>11 Strategies  |  3 TFT Models  |  6 Options Strategies  |  Sharpe 2.27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107 Python Files  |  31,943 Lines  |  Real-Time Paper Trading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</a:defRPr>
            </a:pPr>
            <a:r>
              <a:t>Final Architecture Report  |  March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Performance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11887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SHARPE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CAF50"/>
                </a:solidFill>
              </a:defRPr>
            </a:pPr>
            <a:r>
              <a:t>2.27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51760" cy="11887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463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ALPHA vs SPY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8A6FF"/>
                </a:solidFill>
              </a:defRPr>
            </a:pPr>
            <a:r>
              <a:t>+34.9%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2651760" cy="11887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ANN.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CAF50"/>
                </a:solidFill>
              </a:defRPr>
            </a:pPr>
            <a:r>
              <a:t>+40.5%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371600"/>
            <a:ext cx="2651760" cy="11887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463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MAX DRAWDOWN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44336"/>
                </a:solidFill>
              </a:defRPr>
            </a:pPr>
            <a:r>
              <a:t>6.24%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34640"/>
            <a:ext cx="2651760" cy="11887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STRATEGIES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200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8A6FF"/>
                </a:solidFill>
              </a:defRPr>
            </a:pPr>
            <a:r>
              <a:t>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2834640"/>
            <a:ext cx="2651760" cy="11887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2926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TFT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200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C27B0"/>
                </a:solidFill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834640"/>
            <a:ext cx="2651760" cy="11887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926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PYTHON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00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949E"/>
                </a:solidFill>
              </a:defRPr>
            </a:pPr>
            <a:r>
              <a:t>107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2834640"/>
            <a:ext cx="2651760" cy="11887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2926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LINES OF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200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949E"/>
                </a:solidFill>
              </a:defRPr>
            </a:pPr>
            <a:r>
              <a:t>31,943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3891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Best equity strategy: Cross-Sectional Momentum — Sharpe 2.27, +40.5% annualized, beta 0.28</a:t>
            </a:r>
          </a:p>
          <a:p>
            <a:pPr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Best options strategy: Volatility Arbitrage — Sharpe 2.05, +13.3% annualized, 74% win rate</a:t>
            </a:r>
          </a:p>
          <a:p>
            <a:pPr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Portfolio with options: volatility reduced 35% (17.9% to 11.7%), max DD reduced 33%</a:t>
            </a:r>
          </a:p>
          <a:p>
            <a:pPr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Paper trading live on Alpaca — Day 1 complete, scheduled daily at 10 AM ET</a:t>
            </a:r>
          </a:p>
          <a:p>
            <a:pPr>
              <a:spcAft>
                <a:spcPts val="400"/>
              </a:spcAft>
              <a:defRPr sz="1200">
                <a:solidFill>
                  <a:srgbClr val="C9D1D9"/>
                </a:solidFill>
              </a:defRPr>
            </a:pPr>
            <a:r>
              <a:t>Regime-adaptive Bayesian ensemble dynamically weights all 11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B949E"/>
                </a:solidFill>
              </a:defRPr>
            </a:pPr>
            <a:r>
              <a:t>9 layers from data ingestion to monitoring</a:t>
            </a:r>
          </a:p>
        </p:txBody>
      </p:sp>
      <p:pic>
        <p:nvPicPr>
          <p:cNvPr id="6" name="Picture 5" descr="apex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B949E"/>
                </a:solidFill>
              </a:defRPr>
            </a:pPr>
            <a:r>
              <a:t>6 external sources, 5 microservices, Kafka event bus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8738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Polygon.io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OHLCV, news, fundamentals, options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Real-time / daily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Reddit (PRAW)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Sentiment from r/stocks, r/wsb, r/options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Every 30 min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yfinance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Stock prices, FX pairs (6), VIX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Daily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SEC EDGAR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10-K, 10-Q, 8-K filings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As filed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Central Banks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Interest rates (Fed, ECB, BOJ, etc.)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Alpaca API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Account, positions, orders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Real-time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28016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28738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Data Ingestion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8001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Polygon + Reddit collection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Sentiment Engine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8002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FinBERT + VADER NLP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TFT Predictor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8003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GPU model inference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Trading Engine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8004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Alpaca order execution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Orchestrator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8005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Saga workflow coordination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Paper Trader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8010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Daily ensemble + dashboard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657600"/>
            <a:ext cx="11247120" cy="640080"/>
          </a:xfrm>
          <a:prstGeom prst="round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Kafka Topics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market-data | sentiment-scores | tft-predictions | trading-signals | order-updates | portfolio-updates | system-events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PostgreSQL / TimescaleDB: OHLCV, fundamentals, audit trail, paper trading logs (3 tables)</a:t>
            </a:r>
          </a:p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Redis: circuit breaker state (sub-ms reads), prediction cache, session data</a:t>
            </a:r>
          </a:p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MLflow: model registry with experiment tracking and versioning</a:t>
            </a:r>
          </a:p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File System: trained models (.pth), data CSVs, predictions,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 Specialized TFT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B949E"/>
                </a:solidFill>
              </a:defRPr>
            </a:pPr>
            <a:r>
              <a:t>Each model trained on asset-class-specific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3749039" cy="25603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TFT-Stocks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Target: 5-day stock returns</a:t>
            </a:r>
            <a:br/>
            <a:br/>
            <a:r>
              <a:t>Features: OHLCV, RSI, MACD, Bollinger,</a:t>
            </a:r>
            <a:br/>
            <a:r>
              <a:t>volume ratio, sentiment, temporal</a:t>
            </a:r>
            <a:br/>
            <a:br/>
            <a:r>
              <a:t>Consumers: Momentum, Pairs,</a:t>
            </a:r>
            <a:br/>
            <a:r>
              <a:t>Covered Calls, Earnings Plays</a:t>
            </a:r>
            <a:br/>
            <a:br/>
            <a:r>
              <a:t>Training: Existing train.py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280160"/>
            <a:ext cx="3749039" cy="25603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TFT-Forex (TRAINED)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Target: 5-day FX pair returns</a:t>
            </a:r>
            <a:br/>
            <a:r>
              <a:t>Val loss: 0.0045</a:t>
            </a:r>
            <a:br/>
            <a:br/>
            <a:r>
              <a:t>Features: Rate differentials, carry score,</a:t>
            </a:r>
            <a:br/>
            <a:r>
              <a:t>USD strength, cross-pair correlation,</a:t>
            </a:r>
            <a:br/>
            <a:r>
              <a:t>RSI, MACD, realized vol</a:t>
            </a:r>
            <a:br/>
            <a:br/>
            <a:r>
              <a:t>Consumers: FX Carry + Trend</a:t>
            </a:r>
            <a:br/>
            <a:r>
              <a:t>Trained on: 3yr, 6 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80160"/>
            <a:ext cx="3749039" cy="25603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TFT-Volatility (TRAINED)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Target: 5-day realized vol</a:t>
            </a:r>
            <a:br/>
            <a:r>
              <a:t>Val loss: 0.0382</a:t>
            </a:r>
            <a:br/>
            <a:br/>
            <a:r>
              <a:t>Features: RV (5/10/21/63d), Parkinson vol,</a:t>
            </a:r>
            <a:br/>
            <a:r>
              <a:t>GARCH residuals, IV-RV spread, IV rank,</a:t>
            </a:r>
            <a:br/>
            <a:r>
              <a:t>vol-of-vol, vol momentum</a:t>
            </a:r>
            <a:br/>
            <a:br/>
            <a:r>
              <a:t>Consumers: Vol Arb, Iron Condors,</a:t>
            </a:r>
            <a:br/>
            <a:r>
              <a:t>Gamma Scalping, Protective 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114800"/>
            <a:ext cx="11612880" cy="91440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ModelManager — Graceful Fallback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Loads all 3 models at startup. If any model file is missing (not yet trained), returns empty predictions.</a:t>
            </a:r>
            <a:br/>
            <a:r>
              <a:t>Strategies automatically fall back to non-TFT signals (factor scores, GARCH, rate differentials).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Training: python -m models.train_forex --epochs 50  |  python -m models.train_volatility --epochs 50</a:t>
            </a:r>
          </a:p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Framework: PyTorch 2.10 + PyTorch Forecasting 1.2 + Lightning 2.2 | GPU: RTX 5090</a:t>
            </a:r>
          </a:p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Architecture: TemporalFusionTransformer with quantile loss [0.1, 0.5, 0.9], Ranger optimizer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Equity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B949E"/>
                </a:solidFill>
              </a:defRPr>
            </a:pPr>
            <a:r>
              <a:t>Momentum + Statistical Arbitrage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5760720" cy="2926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Cross-Sectional Momentum + Mean Reversion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Edge: Behavioral biases (underreaction + overreaction)</a:t>
            </a:r>
            <a:br/>
            <a:br/>
            <a:r>
              <a:t>Factors:</a:t>
            </a:r>
            <a:br/>
            <a:r>
              <a:t>  12-1 Momentum (skip month): weight 50%</a:t>
            </a:r>
            <a:br/>
            <a:r>
              <a:t>  5-day Mean Reversion (inverted): weight 30%</a:t>
            </a:r>
            <a:br/>
            <a:r>
              <a:t>  Quality (Sharpe + drawdown proxy): weight 20%</a:t>
            </a:r>
            <a:br/>
            <a:br/>
            <a:r>
              <a:t>Composite = 0.5*Z_mom + 0.3*Z_mr + 0.2*Z_qual</a:t>
            </a:r>
            <a:br/>
            <a:r>
              <a:t>Long: Z &gt; 1.0  |  Short: Z &lt; -1.0</a:t>
            </a:r>
            <a:br/>
            <a:r>
              <a:t>Rebalance: Weekly  |  Expected Sharpe: 0.8-2.3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669280" cy="292608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Statistical Arbitrage (Pairs Trading)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Edge: Mean-reverting cointegrated spreads</a:t>
            </a:r>
            <a:br/>
            <a:br/>
            <a:r>
              <a:t>Pair Selection:</a:t>
            </a:r>
            <a:br/>
            <a:r>
              <a:t>  Engle-Granger cointegration (p &lt; 0.05)</a:t>
            </a:r>
            <a:br/>
            <a:r>
              <a:t>  Half-life: 2-30 trading days</a:t>
            </a:r>
            <a:br/>
            <a:r>
              <a:t>  Same-sector filtering optional</a:t>
            </a:r>
            <a:br/>
            <a:br/>
            <a:r>
              <a:t>Signal: Spread z-score</a:t>
            </a:r>
            <a:br/>
            <a:r>
              <a:t>  Enter: |z| &gt; 2.0  |  Exit: |z| &lt; 0.5</a:t>
            </a:r>
            <a:br/>
            <a:r>
              <a:t>  Stop loss: |z| &gt; 4.0</a:t>
            </a:r>
            <a:br/>
            <a:r>
              <a:t>Market-neutral: beta = 0.001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480560"/>
            <a:ext cx="5760720" cy="18288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FX Carry + Trend Following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Edge: Forward rate bias + policy persistence</a:t>
            </a:r>
            <a:br/>
            <a:r>
              <a:t>Signal = 0.5 * carry + 0.5 * trend_z</a:t>
            </a:r>
            <a:br/>
            <a:r>
              <a:t>Carry: rate differential / 5.0</a:t>
            </a:r>
            <a:br/>
            <a:r>
              <a:t>Trend: 63-day momentum, z-scored</a:t>
            </a:r>
            <a:br/>
            <a:r>
              <a:t>6 pairs: EURUSD, GBPUSD, USDJPY, AUDUSD, USDCAD, USDCHF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480560"/>
            <a:ext cx="5669280" cy="1828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Backtest Results (Real Data)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Momentum (10 stocks): Sharpe 2.27, +40.5% ann, DD 6.2%</a:t>
            </a:r>
            <a:br/>
            <a:r>
              <a:t>Momentum (29 stocks): Sharpe 0.04, +1.1% ann, DD 11.6%</a:t>
            </a:r>
            <a:br/>
            <a:r>
              <a:t>Pairs Trading: Sharpe -1.42, beta 0.001 (market-neutral)</a:t>
            </a:r>
            <a:br/>
            <a:r>
              <a:t>FX Carry: needs longer period (52 weeks post-warmup)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 Options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B949E"/>
                </a:solidFill>
              </a:defRPr>
            </a:pPr>
            <a:r>
              <a:t>QuantLib pricing, GARCH vol forecasting, regime-gated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3657600" cy="21031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Covered Calls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Sell 25-delta OTM calls</a:t>
            </a:r>
            <a:br/>
            <a:r>
              <a:t>25-45 DTE, IV rank &gt; 20%</a:t>
            </a:r>
            <a:br/>
            <a:r>
              <a:t>Close 50% profit / roll 7 DTE</a:t>
            </a:r>
            <a:br/>
            <a:r>
              <a:t>Sharpe: 0.8-1.5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280160"/>
            <a:ext cx="3657600" cy="21031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Iron Condors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Sell 1SD wings SPY/QQQ</a:t>
            </a:r>
            <a:br/>
            <a:r>
              <a:t>IV rank &gt; 50%, calm regime</a:t>
            </a:r>
            <a:br/>
            <a:r>
              <a:t>50% profit / 200% stop</a:t>
            </a:r>
            <a:br/>
            <a:r>
              <a:t>Sharpe: 0.6-1.2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80160"/>
            <a:ext cx="3657600" cy="210312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Protective Puts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Buy 20-delta puts</a:t>
            </a:r>
            <a:br/>
            <a:r>
              <a:t>ONLY volatile regimes</a:t>
            </a:r>
            <a:br/>
            <a:r>
              <a:t>Max 2% premium cost</a:t>
            </a:r>
            <a:br/>
            <a:r>
              <a:t>Sharpe: -0.2-0.3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657600"/>
            <a:ext cx="3657600" cy="21031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Vol Arbitrage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Sell when IV &gt;&gt; RV (+5pts)</a:t>
            </a:r>
            <a:br/>
            <a:r>
              <a:t>Buy when IV &lt;&lt; RV</a:t>
            </a:r>
            <a:br/>
            <a:r>
              <a:t>GARCH + TFT timing</a:t>
            </a:r>
            <a:br/>
            <a:r>
              <a:t>Sharpe: 1.0-2.0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657600"/>
            <a:ext cx="3657600" cy="21031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Earnings Plays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TFT + sentiment signals</a:t>
            </a:r>
            <a:br/>
            <a:r>
              <a:t>Directional: bull/bear spread</a:t>
            </a:r>
            <a:br/>
            <a:r>
              <a:t>Neutral: iron condor</a:t>
            </a:r>
            <a:br/>
            <a:r>
              <a:t>Sharpe: 0.5-1.5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657600"/>
            <a:ext cx="3657600" cy="210312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6. Gamma Scalping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Buy ATM straddle</a:t>
            </a:r>
            <a:br/>
            <a:r>
              <a:t>Delta hedge every 4hr</a:t>
            </a:r>
            <a:br/>
            <a:r>
              <a:t>When RV &gt; IV by 3pts</a:t>
            </a:r>
            <a:br/>
            <a:r>
              <a:t>Sharpe: 0.3-1.0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Options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B949E"/>
                </a:solidFill>
              </a:defRPr>
            </a:pPr>
            <a:r>
              <a:t>QuantLib pricing, IV surface, GARCH vol, portfolio Greeks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2743200" cy="18288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Pricing Engine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QuantLib Bjerksund-Stensland (American)</a:t>
            </a:r>
            <a:br/>
            <a:r>
              <a:t>BSM analytical fallback (European)</a:t>
            </a:r>
            <a:br/>
            <a:r>
              <a:t>Brent IV solver (robust all strikes)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280160"/>
            <a:ext cx="2743200" cy="1828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Greeks Calculator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Per-position: D, G, T, V, R</a:t>
            </a:r>
            <a:br/>
            <a:r>
              <a:t>Portfolio aggregation</a:t>
            </a:r>
            <a:br/>
            <a:r>
              <a:t>Stress test: spot/vol shock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2743200" cy="18288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Vol Surface Builder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2D strike x expiry grid</a:t>
            </a:r>
            <a:br/>
            <a:r>
              <a:t>Bicubic spline interpolation</a:t>
            </a:r>
            <a:br/>
            <a:r>
              <a:t>Skew + term structure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280160"/>
            <a:ext cx="2743200" cy="18288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Vol Monitor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IV Rank (52-week range)</a:t>
            </a:r>
            <a:br/>
            <a:r>
              <a:t>IV-RV Spread</a:t>
            </a:r>
            <a:br/>
            <a:r>
              <a:t>GARCH(1,1) forecast</a:t>
            </a:r>
            <a:br/>
            <a:r>
              <a:t>Vol regime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Options Risk Manager: portfolio delta/gamma/vega/theta limits, max loss calc, margin estimation</a:t>
            </a:r>
          </a:p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VIX Term Structure: contango → sell premium aggressively | backwardation → crisis mode, buy protection</a:t>
            </a:r>
          </a:p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Per-strategy kill switches: covered calls (15% DD), iron condors (20%), vol arb (20%), etc.</a:t>
            </a:r>
          </a:p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Backtest results: Vol Arb Sharpe 2.05, 74% win rate | Covered Calls +22.2% ann, 66% win rate</a:t>
            </a:r>
          </a:p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All options strategies feed z-scored alpha into the Bayesian ensemble alongside equity/FX strategies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Bayesian Ensemble Combiner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B949E"/>
                </a:solidFill>
              </a:defRPr>
            </a:pPr>
            <a:r>
              <a:t>The brain — combines 11 uncorrelated signals into optimal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5760720" cy="13716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Weight Formula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Weight_i = prior + alpha * max(Sharpe_63d, 0)</a:t>
            </a:r>
            <a:br/>
            <a:r>
              <a:t>Final = 0.6 * performance_weight + 0.4 * regime_weight</a:t>
            </a:r>
            <a:br/>
            <a:r>
              <a:t>Clamped [5%, 50%] per strategy, normalized to 100%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2926080"/>
          <a:ext cx="5760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90"/>
                <a:gridCol w="720090"/>
                <a:gridCol w="720090"/>
                <a:gridCol w="720090"/>
                <a:gridCol w="720090"/>
                <a:gridCol w="720090"/>
                <a:gridCol w="720090"/>
                <a:gridCol w="72009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Regime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VIX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Breadth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MR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Pairs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TFT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Exposure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Calm Trending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&lt;20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&gt;60%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Calm Choppy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&lt;20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&lt;40%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Vol Trending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&gt;30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&gt;60%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70-90%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Vol Choppy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&gt;30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&lt;40%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30-50%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28016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/>
                <a:gridCol w="883920"/>
                <a:gridCol w="883920"/>
                <a:gridCol w="883920"/>
                <a:gridCol w="883920"/>
                <a:gridCol w="88392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TFT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Pairs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FX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Options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TFT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Momentum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Pairs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FX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Options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200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49E"/>
                </a:solidFill>
              </a:defRPr>
            </a:pPr>
            <a:r>
              <a:t>Expected Strategy Correlation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566160"/>
            <a:ext cx="5303520" cy="9144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Portfolio Optimizer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Inverse-vol weighting → vol targeting (15% ann) → constraints:</a:t>
            </a:r>
            <a:br/>
            <a:r>
              <a:t>Gross leverage &lt;= 2.0x | Net &lt;= 0.5x | VaR 99% | Max 30 positions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With avg pairwise correlation ~0.10 and individual Sharpe ~1.0, expected portfolio Sharpe: 2.0-2.8</a:t>
            </a:r>
          </a:p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TFTAdapter bridges existing TFT predictions into ensemble without modifying any original code</a:t>
            </a:r>
          </a:p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Regime detector runs every cycle: VIX + market breadth + realized vol → 4-state classification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Risk Management — 5 Defense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2194560" cy="228600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L1: Circuit Breaker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HWM / SOD / Capital DD</a:t>
            </a:r>
            <a:br/>
            <a:r>
              <a:t>Fail-safe: 3x API failure</a:t>
            </a:r>
            <a:br/>
            <a:r>
              <a:t>Redis SET before closing</a:t>
            </a:r>
            <a:br/>
            <a:r>
              <a:t>Audit to PostgreSQL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280160"/>
            <a:ext cx="2194560" cy="2286000"/>
          </a:xfrm>
          <a:prstGeom prst="round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L2: Kill Switches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Per-strategy DD + Sharpe</a:t>
            </a:r>
            <a:br/>
            <a:r>
              <a:t>Killed = 0% allocation</a:t>
            </a:r>
            <a:br/>
            <a:r>
              <a:t>Manual revive required</a:t>
            </a:r>
            <a:br/>
            <a:r>
              <a:t>11 independent switches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280160"/>
            <a:ext cx="2194560" cy="22860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L3: VaR Engine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Parametric + Historical</a:t>
            </a:r>
            <a:br/>
            <a:r>
              <a:t>99% confidence, 1-day</a:t>
            </a:r>
            <a:br/>
            <a:r>
              <a:t>Binding = worse method</a:t>
            </a:r>
            <a:br/>
            <a:r>
              <a:t>Portfolio covariance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280160"/>
            <a:ext cx="2194560" cy="2286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L4: Options Greeks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Net delta/gamma/vega/theta</a:t>
            </a:r>
            <a:br/>
            <a:r>
              <a:t>Max loss calculation</a:t>
            </a:r>
            <a:br/>
            <a:r>
              <a:t>Margin estimation</a:t>
            </a:r>
            <a:br/>
            <a:r>
              <a:t>Stress test scenarios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280160"/>
            <a:ext cx="2194560" cy="228600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L5: Position Sizing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Fixed Fractional (default)</a:t>
            </a:r>
            <a:br/>
            <a:r>
              <a:t>Half-Kelly (capped)</a:t>
            </a:r>
            <a:br/>
            <a:r>
              <a:t>Vol-Scaled (ATR)</a:t>
            </a:r>
            <a:br/>
            <a:r>
              <a:t>All floor to 0, cap 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Correlation Monitor: alerts when any two strategies correlate &gt; 0.6 (diversification degraded)</a:t>
            </a:r>
          </a:p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Dynamic Capital Allocation: risk-parity — allocate proportional to sharpe/vol per strategy</a:t>
            </a:r>
          </a:p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VIX Term Structure: contango ratio, backwardation detection → options regime signal</a:t>
            </a:r>
          </a:p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Notifications: Discord webhook (colored embeds) + email (async), fire-and-forget</a:t>
            </a:r>
          </a:p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Config Validator: 10 pre-flight checks before live trading (API keys, DB, Redis, mode mismatch)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Backtest Results — Real Market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B949E"/>
                </a:solidFill>
              </a:defRPr>
            </a:pPr>
            <a:r>
              <a:t>2023-2025, 30 stocks + 6 FX pairs + BSM synthetic options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2857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Ann.Return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MaxDD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WinRate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Alpha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Momentum (10 stocks)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+40.5%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2.270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6.2%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48.1%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+34.9%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Vol Arbitrage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+13.3%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2.047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7.2%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74.2%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Covered Calls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+22.2%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0.865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59.3%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66.3%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~1.0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Iron Condors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-2.9%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-0.821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7.6%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63.2%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~0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Momentum (29 stocks)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+1.1%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0.044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11.6%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48.1%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0.37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+3.4%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Pairs Trading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-1.419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5.1%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8.8%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FX Carry+Trend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-12.0%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-1.732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5.9%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42.3%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84048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Portfolio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Ann.Return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Ann.Vol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MaxDD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Stocks Only (SPY)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+25.2%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17.9%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1.41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-18.7%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Stocks + FX (85/15)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+21.5%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15.1%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1.42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-15.6%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Stocks + FX + Options (60/15/25)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+15.9%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11.7%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1.36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-12.6%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394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</a:defRPr>
            </a:pPr>
            <a:r>
              <a:t>Adding options reduces portfolio volatility 35% and max drawdown 33%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Deep Learning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PyTorch 2.10 + Forecasting 1.2 + Lightning 2.2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3 TFT model training and inference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Factor Models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NumPy + Pandas + SciPy + Statsmodels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Momentum, cointegration, z-scores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Options Pricing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QuantLib 1.41 + arch 8.0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Bjerksund-Stensland, SABR, GARCH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NLP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Transformers (FinBERT) + VADER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Reddit/news sentiment scoring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FastAPI + Uvicorn + Pydantic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REST endpoints, paper trader dashboard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Message Bus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Apache Kafka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Async event streaming between services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PostgreSQL 15 / TimescaleDB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OHLCV, fundamentals, audit trail, trade logs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Cache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Redis 7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Circuit breaker state, prediction cache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Broker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Alpaca API (aiohttp)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Paper + live order execution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Model Registry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MLflow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Experiment tracking, model versioning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Prometheus + Grafana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Metrics, dashboards, alerting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Containers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Docker + docker-compose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Microservice deployment (8+ services)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2657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Python 3.12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D1D9"/>
                          </a:solidFill>
                        </a:defRPr>
                      </a:pPr>
                      <a:r>
                        <a:t>All components, 107 files, 31,943 lines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Codebase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B949E"/>
                </a:solidFill>
              </a:defRPr>
            </a:pPr>
            <a:r>
              <a:t>65 new files across 4 packages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strategies/ — 37 files, 7,062 lines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base.py: BaseStrategy ABC, AlphaScore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momentum/: 12-1 Mom + 5d MR + Quality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statarb/: Cointegration pairs scanner + trading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fx/: Carry + trend (6 major pairs)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options/: 17 files — pricing, Greeks, vol surface,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  vol monitor, 6 strategies, options risk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ensemble/: Bayesian combiner + optimizer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regime/: 4-state detector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risk/: VaR, kill switches, capital allocation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backtest/: Vectorized engine + comparison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trading/ — 12 files, 1,818 lines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broker/: BaseBroker ABC + AlpacaBroker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risk/: Circuit breaker + position sizing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notifications/: Discord + email alerts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persistence/: PostgreSQL audit tables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config_validator.py: 10 pre-flight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models/ — 8 files, 1,413 lines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base.py: BaseTFTModel ABC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stocks_adapter.py: Wraps existing TFT model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forex_model.py: TFT-Forex (val_loss 0.0045)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volatility_model.py: TFT-Vol (val_loss 0.0382)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manager.py: ModelManager + fallback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train_forex.py + train_volatility.py: CLI scripts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tft_forex.pth (1.6MB) + tft_volatility.pth (2.7MB)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paper-trader/ — 3 files, 828 lines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main.py: FastAPI + scheduler + dashboard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Dockerfile + requirements.txt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docs/ — Architecture documentation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7 architecture diagrams (PDF + PNG)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APEX_Complete_Architecture.pdf (15+ pages)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APEX_Final_Presentation.pptx (20+ slides)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  APEX_Notion_Doc.md (Notion-ready)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Paper Trading — Live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B949E"/>
                </a:solidFill>
              </a:defRPr>
            </a:pPr>
            <a:r>
              <a:t>Port 8010 | Daily at 10 AM ET | 30-day validation before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5486400" cy="22860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Daily Pipeline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1. Fetch data (yfinance: 10 stocks + 6 FX pairs)</a:t>
            </a:r>
            <a:br/>
            <a:r>
              <a:t>2. Run 3 strategies (momentum + pairs + FX)</a:t>
            </a:r>
            <a:br/>
            <a:r>
              <a:t>3. Detect regime (VIX + breadth + rvol)</a:t>
            </a:r>
            <a:br/>
            <a:r>
              <a:t>4. Bayesian ensemble (Sharpe-weighted)</a:t>
            </a:r>
            <a:br/>
            <a:r>
              <a:t>5. Portfolio optimizer (vol targeting + constraints)</a:t>
            </a:r>
            <a:br/>
            <a:r>
              <a:t>6. Execute trades (Alpaca paper)</a:t>
            </a:r>
            <a:br/>
            <a:r>
              <a:t>7. Log to PostgreSQL (3 tables)</a:t>
            </a:r>
            <a:br/>
            <a:r>
              <a:t>8. Discord P&amp;L report</a:t>
            </a:r>
            <a:br/>
            <a:r>
              <a:t>9. Update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280160"/>
            <a:ext cx="5852160" cy="2286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Dashboard Features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Live at http://localhost:8010/dashboard</a:t>
            </a:r>
            <a:br/>
            <a:br/>
            <a:r>
              <a:t>4 metric cards: Value, P&amp;L, Return, Sharpe</a:t>
            </a:r>
            <a:br/>
            <a:r>
              <a:t>Positions table with unrealized P&amp;L</a:t>
            </a:r>
            <a:br/>
            <a:r>
              <a:t>Strategy weight bars (Bayesian allocation)</a:t>
            </a:r>
            <a:br/>
            <a:r>
              <a:t>Daily P&amp;L history (date, return, regime)</a:t>
            </a:r>
            <a:br/>
            <a:r>
              <a:t>Auto-refresh every 60 seconds</a:t>
            </a:r>
            <a:br/>
            <a:br/>
            <a:r>
              <a:t>API: /health, /positions, /weights, /history</a:t>
            </a:r>
            <a:br/>
            <a:r>
              <a:t>Manual trigger: POST /run-now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840480"/>
            <a:ext cx="11612880" cy="91440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Go-Live Criteria (after 30 days)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Sharpe &gt; 1.0 | Max DD &lt; 15% | Win Rate &gt; 45% | Total Return Positive | No kill switch trips | Config validator passes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Current status: Day 1 complete | Regime: calm_choppy | Weights: mom 30%, pairs 35%, FX 35%</a:t>
            </a:r>
          </a:p>
          <a:p>
            <a:pPr>
              <a:spcAft>
                <a:spcPts val="400"/>
              </a:spcAft>
              <a:defRPr sz="1100">
                <a:solidFill>
                  <a:srgbClr val="C9D1D9"/>
                </a:solidFill>
              </a:defRPr>
            </a:pPr>
            <a:r>
              <a:t>Account: Alpaca paper PA31CZRY8R5V | Equity: $89,992.74 | Infrastructure: TimescaleDB + Redis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274320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Complete 30-day paper trading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Train TFT-Stocks on PostgreSQL data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Parameter optimization sweep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Download 5+ years for robust backtests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280160"/>
            <a:ext cx="274320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1-3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2880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OANDA broker for FX execution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Intraday signals (4-hour bars)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Alpaca options API integration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Live Grafana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2743200" cy="4572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3-6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82880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Twitter/X sentiment integration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RL dynamic position sizing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Multi-account management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Kubernetes deployment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280160"/>
            <a:ext cx="2743200" cy="4572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6-12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Crypto strategies (BTC, ETH)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Options market making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Custom cross-asset TFT attention</a:t>
            </a:r>
          </a:p>
          <a:p>
            <a:pPr>
              <a:spcAft>
                <a:spcPts val="400"/>
              </a:spcAft>
              <a:defRPr sz="1000">
                <a:solidFill>
                  <a:srgbClr val="C9D1D9"/>
                </a:solidFill>
              </a:defRPr>
            </a:pPr>
            <a:r>
              <a:t>Fund structure for external capital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