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DFF"/>
                </a:solidFill>
              </a:defRPr>
            </a:pPr>
            <a:r>
              <a:t>Multi-Strategy Quantitative Trading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System Architecture &amp; Strategy Performance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572000" cy="182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Temporal Fusion Transformer + Factor Models + Statistical Arbitrage + FX Carry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March 2026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APEX is a multi-strategy quantitative trading platform combining deep learning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(Temporal Fusion Transformer) with classic quant factors (momentum, mean-reversion,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quality) and market-neutral strategies (statistical arbitrage, FX carry).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Key capabilities: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- 5 independent alpha sources with low pairwise correlation (~0.12)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- Bayesian ensemble combiner with regime-adaptive weighting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- 4-state market regime detection (VIX + breadth + realized vol)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- Production-grade risk: circuit breakers, per-strategy kill switches, 99% VaR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- Execution via Alpaca (stocks) with OANDA adapter planned (FX)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- Full backtest engine with real data validation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Backtest highlight (10 stocks, Jan 2024 - Jan 2025):</a:t>
            </a:r>
          </a:p>
          <a:p>
            <a:pPr>
              <a:spcAft>
                <a:spcPts val="600"/>
              </a:spcAft>
              <a:defRPr sz="1300">
                <a:solidFill>
                  <a:srgbClr val="1B2A4A"/>
                </a:solidFill>
              </a:defRPr>
            </a:pPr>
            <a:r>
              <a:t>  Sharpe 2.27 | Alpha +34.9% vs SPY | Max DD 6.24% | Beta 0.28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371600"/>
            <a:ext cx="228600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Sharpe Ratio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2.27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371600"/>
            <a:ext cx="228600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Alpha vs SPY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+34.9%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0"/>
            <a:ext cx="2286000" cy="10972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Max Drawdown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6.24%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743200"/>
            <a:ext cx="2286000" cy="10972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Beta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0.276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114800"/>
            <a:ext cx="228600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Ann. Return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+40.5%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4114800"/>
            <a:ext cx="228600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Win Rate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48.1%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Full platform diagram</a:t>
            </a:r>
          </a:p>
        </p:txBody>
      </p:sp>
      <p:pic>
        <p:nvPicPr>
          <p:cNvPr id="3" name="Picture 2" descr="apex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Microservices Architecture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Docker + Kafka Event Streaming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2194560" cy="2286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Ingestion</a:t>
            </a:r>
            <a:br/>
            <a:r>
              <a:t>Port 8001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Polygon.io OHLCV</a:t>
            </a:r>
            <a:br/>
            <a:r>
              <a:t>Reddit sentiment</a:t>
            </a:r>
            <a:br/>
            <a:r>
              <a:t>Earnings calendar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463040"/>
            <a:ext cx="2194560" cy="2286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Sentiment Engine</a:t>
            </a:r>
            <a:br/>
            <a:r>
              <a:t>Port 8002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FinBERT + VADER NLP</a:t>
            </a:r>
            <a:br/>
            <a:r>
              <a:t>3-sigma spike detection</a:t>
            </a:r>
            <a:br/>
            <a:r>
              <a:t>Momentum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63040"/>
            <a:ext cx="219456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TFT Predictor</a:t>
            </a:r>
            <a:br/>
            <a:r>
              <a:t>Port 8003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GPU inference</a:t>
            </a:r>
            <a:br/>
            <a:r>
              <a:t>Multi-horizon (1h/4h/24h)</a:t>
            </a:r>
            <a:br/>
            <a:r>
              <a:t>MLflow versioning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63040"/>
            <a:ext cx="2194560" cy="2286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Trading Engine</a:t>
            </a:r>
            <a:br/>
            <a:r>
              <a:t>Port 8004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Alpaca paper + live</a:t>
            </a:r>
            <a:br/>
            <a:r>
              <a:t>Risk validation</a:t>
            </a:r>
            <a:br/>
            <a: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463040"/>
            <a:ext cx="2194560" cy="2286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Orchestrator</a:t>
            </a:r>
            <a:br/>
            <a:r>
              <a:t>Port 8005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Saga pattern workflows</a:t>
            </a:r>
            <a:br/>
            <a:r>
              <a:t>Service health monitoring</a:t>
            </a:r>
            <a:br/>
            <a:r>
              <a:t>Scheduled pipelines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023360"/>
            <a:ext cx="11612880" cy="73152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Apache Kafka Bus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Topics: market-data | sentiment-scores | tft-predictions | trading-signals | order-updates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Infrastructure: TimescaleDB (PostgreSQL 15), Redis (state cache), MLflow (model registry)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Deployment: docker-compose.yml with external tft_network, Prometheus + Grafana monitoring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Data stores: PostgreSQL for OHLCV/fundamentals/audit, Redis for circuit breaker hot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Multi-Strategy Alpha Engine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5 independent alpha sources with Bayesian combination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2194560" cy="20116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TFT Deep Learning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Temporal Fusion Transformer</a:t>
            </a:r>
            <a:br/>
            <a:r>
              <a:t>5-day quantile forecasts</a:t>
            </a:r>
            <a:br/>
            <a:r>
              <a:t>Attention +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96F3"/>
                </a:solidFill>
              </a:defRPr>
            </a:pPr>
            <a:r>
              <a:t>Captures non-linear</a:t>
            </a:r>
            <a:br/>
            <a:r>
              <a:t>temporal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63040"/>
            <a:ext cx="2194560" cy="20116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Momentum + MeanRev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12-1 momentum (skip month)</a:t>
            </a:r>
            <a:br/>
            <a:r>
              <a:t>5-day reversal</a:t>
            </a:r>
            <a:br/>
            <a:r>
              <a:t>Quality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CAF50"/>
                </a:solidFill>
              </a:defRPr>
            </a:pPr>
            <a:r>
              <a:t>Behavioral biases:</a:t>
            </a:r>
            <a:br/>
            <a:r>
              <a:t>under/overreaction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194560" cy="201168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Statistical Arbitrage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Cointegration pair scan</a:t>
            </a:r>
            <a:br/>
            <a:r>
              <a:t>Spread z-score trading</a:t>
            </a:r>
            <a:br/>
            <a:r>
              <a:t>Dollar-neutral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796B"/>
                </a:solidFill>
              </a:defRPr>
            </a:pPr>
            <a:r>
              <a:t>Market-neutral:</a:t>
            </a:r>
            <a:br/>
            <a:r>
              <a:t>beta = 0.001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2194560" cy="20116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FX Carry + Trend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Interest rate differential</a:t>
            </a:r>
            <a:br/>
            <a:r>
              <a:t>3-month price momentum</a:t>
            </a:r>
            <a:br/>
            <a:r>
              <a:t>6 major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9800"/>
                </a:solidFill>
              </a:defRPr>
            </a:pPr>
            <a:r>
              <a:t>Cross-asset</a:t>
            </a:r>
            <a:br/>
            <a:r>
              <a:t>diversification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463040"/>
            <a:ext cx="2194560" cy="20116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Regime Detector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4-state classifier</a:t>
            </a:r>
            <a:br/>
            <a:r>
              <a:t>VIX + breadth + RVol</a:t>
            </a:r>
            <a:br/>
            <a:r>
              <a:t>Dynamic weight adjust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4336"/>
                </a:solidFill>
              </a:defRPr>
            </a:pPr>
            <a:r>
              <a:t>Adapts allocation</a:t>
            </a:r>
            <a:br/>
            <a:r>
              <a:t>to market regime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572000"/>
            <a:ext cx="5486400" cy="13716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Bayesian Ensemble Combiner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Weight_i = prior + alpha * max(Sharpe_63d, 0)</a:t>
            </a:r>
            <a:br/>
            <a:r>
              <a:t>Blend: 60% performance + 40% regime</a:t>
            </a:r>
            <a:br/>
            <a:r>
              <a:t>Clamped to [5%, 50%] per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Portfolio Optimizer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Inverse-volatility weighting</a:t>
            </a:r>
            <a:br/>
            <a:r>
              <a:t>Vol targeting (15% ann.)</a:t>
            </a:r>
            <a:br/>
            <a:r>
              <a:t>Gross leverage &lt;= 2.0x | Net &lt;= 0.5x | VaR 99%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Business Logic Flow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End-to-end data → alpha → execution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0"/>
            <a:ext cx="1371600" cy="25603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DATA</a:t>
            </a:r>
            <a:br/>
            <a:r>
              <a:t>INGESTION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Polygon.io OHLCV</a:t>
            </a:r>
            <a:br/>
            <a:r>
              <a:t>Reddit sentiment</a:t>
            </a:r>
            <a:br/>
            <a:r>
              <a:t>Fundamentals</a:t>
            </a:r>
            <a:br/>
            <a:r>
              <a:t>FX 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73351" y="1463040"/>
            <a:ext cx="1371600" cy="25603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FEATURE</a:t>
            </a:r>
            <a:br/>
            <a:r>
              <a:t>ENGINEERING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Technical indicators</a:t>
            </a:r>
            <a:br/>
            <a:r>
              <a:t>Cross-sectional factors</a:t>
            </a:r>
            <a:br/>
            <a:r>
              <a:t>Temporal features</a:t>
            </a:r>
            <a:br/>
            <a:r>
              <a:t>Cointegration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63824" y="1463040"/>
            <a:ext cx="1371600" cy="2560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SIGNAL</a:t>
            </a:r>
            <a:br/>
            <a:r>
              <a:t>GENERATION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TFT 5-day forecasts</a:t>
            </a:r>
            <a:br/>
            <a:r>
              <a:t>Momentum z-scores</a:t>
            </a:r>
            <a:br/>
            <a:r>
              <a:t>Pair spread z-scores</a:t>
            </a:r>
            <a:br/>
            <a:r>
              <a:t>FX carry + trend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4296" y="1463040"/>
            <a:ext cx="1371600" cy="256032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REGIME</a:t>
            </a:r>
            <a:br/>
            <a:r>
              <a:t>DETECTION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VIX level check</a:t>
            </a:r>
            <a:br/>
            <a:r>
              <a:t>Market breadth</a:t>
            </a:r>
            <a:br/>
            <a:r>
              <a:t>Realized volatility</a:t>
            </a:r>
            <a:br/>
            <a:r>
              <a:t>4-state 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463040"/>
            <a:ext cx="1371600" cy="25603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ENSEMBLE</a:t>
            </a:r>
            <a:br/>
            <a:r>
              <a:t>COMBINE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Bayesian weighting</a:t>
            </a:r>
            <a:br/>
            <a:r>
              <a:t>Regime adjustment</a:t>
            </a:r>
            <a:br/>
            <a:r>
              <a:t>Confidence scaling</a:t>
            </a:r>
            <a:br/>
            <a:r>
              <a:t>Composite alpha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39" y="1463040"/>
            <a:ext cx="1371600" cy="25603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PORTFOLIO</a:t>
            </a:r>
            <a:br/>
            <a:r>
              <a:t>OPTIMIZE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Vol targeting</a:t>
            </a:r>
            <a:br/>
            <a:r>
              <a:t>Inv-vol weights</a:t>
            </a:r>
            <a:br/>
            <a:r>
              <a:t>Leverage constraints</a:t>
            </a:r>
            <a:br/>
            <a:r>
              <a:t>VaR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1" y="1463040"/>
            <a:ext cx="1371600" cy="25603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RISK</a:t>
            </a:r>
            <a:br/>
            <a:r>
              <a:t>CHECK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Circuit breaker</a:t>
            </a:r>
            <a:br/>
            <a:r>
              <a:t>Kill switches</a:t>
            </a:r>
            <a:br/>
            <a:r>
              <a:t>Position limits</a:t>
            </a:r>
            <a:br/>
            <a:r>
              <a:t>Drawdown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16184" y="1463040"/>
            <a:ext cx="1371600" cy="2560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8. EXECUTE</a:t>
            </a:r>
            <a:br/>
            <a:r>
              <a:t>ORDERS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Alpaca broker</a:t>
            </a:r>
            <a:br/>
            <a:r>
              <a:t>Market/limit orders</a:t>
            </a:r>
            <a:br/>
            <a:r>
              <a:t>Audit trail</a:t>
            </a:r>
            <a:br/>
            <a:r>
              <a:t>Notifications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" y="4297680"/>
            <a:ext cx="11247120" cy="36576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 --&gt;  FEATURES  --&gt;  SIGNALS  --&gt;  REGIME  --&gt;  COMBINE  --&gt;  OPTIMIZE  --&gt;  RISK  --&gt;  EXECUTE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Daily cycle: Data ingestion (market open -30min) -&gt; Feature computation -&gt; Signal generation -&gt; Portfolio rebalance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Weekly cycle: Pair re-scan (cointegration tests), Regime classification, Strategy weight recalibration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Circuit breaker check runs every 30 seconds independent of the main pipeline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All strategies produce z-scored alpha scores -&gt; combiner normalizes -&gt; optimizer constructs target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Strategy 1: Cross-Sectional Momentum + Mean Reversion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Academic basis: Jegadeesh &amp; Titman (1993), Asness, Frazzini &amp; Pedersen (2013)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THREE ORTHOGONAL FACTORS: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1. 12-1 Momentum (weight: 50%)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Return over past 252 days, skip last 21 days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Captures underreaction to information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The "skip month" avoids short-term reversal contamination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2. 5-Day Mean Reversion (weight: 30%)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Inverted 5-day return (buy the dip, sell the rip)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Captures overreaction and liquidity provision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3. Quality Factor (weight: 20%)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Rolling 63-day Sharpe + max drawdown proxy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Blends ROE when fundamentals available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All factors cross-sectionally z-scored (rank vs peers, not vs own history)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Composite score z-scored again for ensemble compatibility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Regime detector adjusts factor weights dynamically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Factor Math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Mom = Price[t-252] / Price[t-21] - 1</a:t>
            </a:r>
            <a:br/>
            <a:r>
              <a:t>MR = -Return_5d (inverted)</a:t>
            </a:r>
            <a:br/>
            <a:r>
              <a:t>Qual = Sharpe_63d * sqrt(252) - 2*MaxDD_63d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017520"/>
            <a:ext cx="530352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Composite Score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Z = 0.5*Z_mom + 0.3*Z_mr + 0.2*Z_qual</a:t>
            </a:r>
            <a:br/>
            <a:r>
              <a:t>Long if Z &gt; 1.0 | Short if Z &lt; -1.0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389120"/>
            <a:ext cx="5303520" cy="10972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Regime Adaptation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Calm Trending: mom=0.40, mr=0.15, qual=0.20</a:t>
            </a:r>
            <a:br/>
            <a:r>
              <a:t>Volatile Choppy: mom=0.10, mr=0.40, qual=0.25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Strategy 2: Statistical Arbitrage (Pairs Trading)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Market-neutral spread trading via cointegrated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PAIR DISCOVERY (Nightly Batch):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1. Generate all same-sector pair candidates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2. Engle-Granger cointegration test (p &lt; 0.05)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3. ADF stationarity test on spread residuals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4. Half-life via Ornstein-Uhlenbeck AR(1) fit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5. Filter: 2 &lt; half-life &lt; 30 days, max 20 pairs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TRADING LOGIC (State Machine):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FLAT -&gt; ENTER when |z-score| &gt; 2.0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POSITION -&gt; EXIT when |z-score| &lt; 0.5 (profit)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POSITION -&gt; STOP LOSS when |z-score| &gt; 4.0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POSITION SIZING: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Dollar-neutral: $X long leg A, $X short leg B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Hedge ratio from OLS: shares_B = beta * shares_A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Max 5% of portfolio per pair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109728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Property: Market Neutral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Beta to SPY = 0.001</a:t>
            </a:r>
            <a:br/>
            <a:r>
              <a:t>P&amp;L from spread convergence, not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0"/>
            <a:ext cx="53035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Half-Life Formula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HL = -ln(2) / ln(1 + phi)</a:t>
            </a:r>
            <a:br/>
            <a:r>
              <a:t>where phi from AR(1): delta_spread = phi * spread_lag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530352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Z-Score Signal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z = (spread - rolling_mean) / rolling_std</a:t>
            </a:r>
            <a:br/>
            <a:r>
              <a:t>Lookback: 63 trading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Bayesian Ensemble &amp; Regime Detection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The brain: combining uncorrelated signals into optimal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Market Regime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VIX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Breadth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MeanRev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TFT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Exposure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Calm Trending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&lt;20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Calm Choppy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&lt;20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&lt;40%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Vol Trending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&gt;30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70-90%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Vol Choppy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&lt;40%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30-50%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Bayesian Weight 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Prior: equal weight (1/N)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Update: Weight_i = prior + alpha * max(Sharpe_63d, 0)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Blend: Final = 0.6 * performance_weight + 0.4 * regime_weight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Clamp: [5%, 50%] per strategy, renormalize to 100%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Why Bayesian? Prevents new strategies from dominating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before sufficient data. As observations accumulate,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posterior converges toward pure Sharpe weighting.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Expected Strategy Correlation Matrix (low correlation = high diversification benefit)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57200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TFT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FX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TFT Predictions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Momentum/MR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Pairs (Stat-Arb)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FX Carry+Trend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Risk Management Architecture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Multi-layer defense: circuit breaker + kill switches + VaR + position sizing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743200" cy="32004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1: Circuit Breaker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3 drawdown methods:</a:t>
            </a:r>
            <a:br/>
            <a:r>
              <a:t>- High Water Mark (5%)</a:t>
            </a:r>
            <a:br/>
            <a:r>
              <a:t>- Start of Day (3%)</a:t>
            </a:r>
            <a:br/>
            <a:r>
              <a:t>- Initial Capital</a:t>
            </a:r>
            <a:br/>
            <a:br/>
            <a:r>
              <a:t>Fail-safe: trips on 3x API failures</a:t>
            </a:r>
            <a:br/>
            <a:r>
              <a:t>Redis SET before closing positions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743200" cy="320040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2: Kill Switches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Per-strategy monitoring:</a:t>
            </a:r>
            <a:br/>
            <a:r>
              <a:t>- Max drawdown threshold (20%)</a:t>
            </a:r>
            <a:br/>
            <a:r>
              <a:t>- Min 21d Sharpe floor (-1.0)</a:t>
            </a:r>
            <a:br/>
            <a:r>
              <a:t>- Manual revive required</a:t>
            </a:r>
            <a:br/>
            <a:r>
              <a:t>- Killed = 0% capital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743200" cy="32004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3: VaR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Two methods (binding = worse):</a:t>
            </a:r>
            <a:br/>
            <a:r>
              <a:t>- Parametric: z * daily_vol</a:t>
            </a:r>
            <a:br/>
            <a:r>
              <a:t>- Historical: actual percentile</a:t>
            </a:r>
            <a:br/>
            <a:r>
              <a:t>- 99% confidence, 1-day horizon</a:t>
            </a:r>
            <a:br/>
            <a:r>
              <a:t>- Portfolio vol from covariance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371600"/>
            <a:ext cx="2743200" cy="3200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4: Position Sizing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Three strategies:</a:t>
            </a:r>
            <a:br/>
            <a:r>
              <a:t>- Fixed Fractional (default)</a:t>
            </a:r>
            <a:br/>
            <a:r>
              <a:t>- Half-Kelly (capped)</a:t>
            </a:r>
            <a:br/>
            <a:r>
              <a:t>- Volatility-Scaled (ATR)</a:t>
            </a:r>
            <a:br/>
            <a:br/>
            <a:r>
              <a:t>All floor to 0, cap at max_position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Notification: Discord webhook (colored embeds by severity) + Email (SMTP via async executor)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Audit: PostgreSQL tables (circuit_breaker_events, closures, portfolio_snapshots) with indexes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State: Redis for sub-millisecond is_tripped checks, PostgreSQL as durable source of truth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Config validator: 10 pre-flight checks (API keys, mode mismatch, DB connectivity, Redis, thresholds)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Backtest Results — Real Market Data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AAPL, GOOGL, MSFT, AMZN, META, NVDA, TSLA, JPM, BAC, XOM | Jan 2024 -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t>Momentum Strategy — Weekly Rebalancing, $100K Initial Capital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Total Return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+7.26%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Sharpe Ratio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2.270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Ann.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+40.46%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Sortino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4.360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1.43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Ann. Volatility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17.82%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Calmar Ratio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6.486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Total Trades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6.24%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Alpha vs 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+34.94%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Trans.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$659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Max DD Duration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32 days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0.276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Info Ratio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1.720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Monthly Returns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75488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Feb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Apr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May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Jun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Jul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Aug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Sep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Oct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Nov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 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Jan 25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+4.77%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+2.06%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-0.04%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+2.69%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+0.49%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-4.81%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+1.77%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-1.65%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+2.54%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-0.06%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+0.12%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-0.49%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Strategy Comparison — All Strategies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Real data backtests on 29 stocks + 6 FX pairs, 2023-2025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Return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Ann. Return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Sortino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Max DD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Momentum (10 stocks)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+7.26%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+40.5%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2.270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4.360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$659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Momentum (29 stocks)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+0.23%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+1.1%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$2.2K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Pairs Trading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-3.1%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-1.39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-1.17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$2.6K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FX Carry +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-2.22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$613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KEY INSIGHTS: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1. Concentrated universe (10 high-dispersion stocks) dramatically outperforms broad universe (29 stocks)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-&gt; Factor signal is stronger when cross-sectional spread is larger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2. Pairs trading is genuinely market-neutral (beta 0.001) — the negative return reflects 2024's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broad equity rally where mean-reversion underperforms. Expected to recover in volatile markets.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3. FX strategy needs longer backtest period (only 52 weeks post-warmup). Rate differentials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correctly identified USDJPY long and EURUSD short positions.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4. The ensemble benefit: combining low-correlation strategies (avg ~0.12) should yield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   portfolio Sharpe significantly above any individual strategy.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PyTorch + PyTorch Forecasting + Lightning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TFT model training and inference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Factor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NumPy + Pandas + SciPy + Statsmodels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Momentum, cointegration, z-scores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NLP / Sentiment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Transformers (FinBERT) + VADER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Reddit/news sentiment scoring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API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FastAPI + Uvicorn + Pydantic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REST endpoints for all services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Message Bus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Apache Kafka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Async event streaming between services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PostgreSQL 15 / TimescaleDB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OHLCV, fundamentals, audit trail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Circuit breaker state, prediction cache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Alpaca API (aiohttp)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Paper + live order execution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Model Registry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MLflow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Experiment tracking, model versioning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Prometheus + 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Metrics, dashboards, alerting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Containerization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Docker + docker-compose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Microservice deployment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Python 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2A4A"/>
                          </a:solidFill>
                        </a:defRPr>
                      </a:pPr>
                      <a:r>
                        <a:t>All components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Codebase Structure</a:t>
            </a:r>
          </a:p>
          <a:p>
            <a:pPr algn="l">
              <a:defRPr sz="1400">
                <a:solidFill>
                  <a:srgbClr val="BBBBBB"/>
                </a:solidFill>
              </a:defRPr>
            </a:pPr>
            <a:r>
              <a:t>New strategy modules alongside existing TFT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strategies/ (NEW — Multi-Strategy Engine)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base.py — BaseStrategy ABC, AlphaScore, StrategyPerformance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config.py — All strategy configs from env vars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momentum/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features.py — 12-1 Mom, 5d MR, Quality, Vol factors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cross_sectional.py — CrossSectionalMomentum strategy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statarb/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scanner.py — Engle-Granger cointegration pair scanner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pairs.py — PairsTrading spread z-score strategy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fx/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carry_trend.py — FX carry + trend following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ensemble/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combiner.py — Bayesian signal combiner + TFTAdapter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portfolio_optimizer.py — Risk-parity construction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regime/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detector.py — 4-state market regime classifier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risk/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portfolio_risk.py — VaR, correlations, kill switches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backtest/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engine.py — Vectorized backtest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trading/ (Phase 6 — Live Trading Safety)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broker/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base.py — Abstract BaseBroker ABC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alpaca.py — AlpacaBroker (aiohttp)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risk/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circuit_breaker.py — HWM/SOD/Capital drawdown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position_sizing.py — Fixed/Kelly/Vol-scaled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notifications/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alerts.py — Discord + Email (fire-and-forget)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persistence/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  audit.py — PostgreSQL audit tables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config_validator.py — 10 pre-flight checks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RUNBOOK.md — Go-live procedures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EXISTING (UNMODIFIED):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tft_model.py, stock_ranking.py, predict.py,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train.py, train_postgres.py, scheduler.py,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config_manager.py, api.py, api_postgres.py,</a:t>
            </a:r>
          </a:p>
          <a:p>
            <a:pPr>
              <a:spcAft>
                <a:spcPts val="600"/>
              </a:spcAft>
              <a:defRPr sz="1100">
                <a:solidFill>
                  <a:srgbClr val="1B2A4A"/>
                </a:solidFill>
              </a:defRPr>
            </a:pPr>
            <a:r>
              <a:t>All microservices in microservices/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Download 5+ years of data for robust backtesting (2019-2025)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Parameter sweep across momentum/pairs thresholds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Run ensemble backtest combining all strategies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Paper trade on Alpaca for 30-60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743200" cy="4572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SHORT TERM (1-3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OANDA broker adapter for FX execution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Intraday signal generation (4-hour bars)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Options overlay strategy (covered calls on long positions)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Live monitoring dashboard (Grafana)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27432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MEDIUM TERM (3-6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Alternative data: Twitter/X sentiment, satellite imagery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Reinforcement learning for dynamic position sizing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Multi-account support (manage multiple portfolios)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</a:defRPr>
            </a:pPr>
            <a:r>
              <a:t>Full Kubernetes deployment for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